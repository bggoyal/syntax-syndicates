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Times New Roman Bold" charset="1" panose="02020803070505020304"/>
      <p:regular r:id="rId14"/>
    </p:embeddedFont>
    <p:embeddedFont>
      <p:font typeface="Trade Gothic Condensed Bold" charset="1" panose="020B0806040303020004"/>
      <p:regular r:id="rId15"/>
    </p:embeddedFont>
    <p:embeddedFont>
      <p:font typeface="Trade Gothic Condensed" charset="1" panose="020B0506040303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5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67942" y="-270099"/>
            <a:ext cx="12175560" cy="2597597"/>
            <a:chOff x="0" y="0"/>
            <a:chExt cx="19465638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65638" cy="4152900"/>
            </a:xfrm>
            <a:custGeom>
              <a:avLst/>
              <a:gdLst/>
              <a:ahLst/>
              <a:cxnLst/>
              <a:rect r="r" b="b" t="t" l="l"/>
              <a:pathLst>
                <a:path h="4152900" w="19465638">
                  <a:moveTo>
                    <a:pt x="0" y="0"/>
                  </a:moveTo>
                  <a:lnTo>
                    <a:pt x="19465638" y="0"/>
                  </a:lnTo>
                  <a:lnTo>
                    <a:pt x="19465638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939" r="0" b="-15893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465638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03440" y="1442317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239636" y="3480122"/>
            <a:ext cx="4805267" cy="5139357"/>
            <a:chOff x="0" y="0"/>
            <a:chExt cx="6407023" cy="6852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49475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0054" y="1567177"/>
            <a:ext cx="13761104" cy="705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SIH26202​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E20 Smart Dosing System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54​</a:t>
            </a:r>
          </a:p>
          <a:p>
            <a:pPr algn="just" marL="669626" indent="-334813" lvl="1">
              <a:lnSpc>
                <a:spcPts val="8880"/>
              </a:lnSpc>
              <a:buFont typeface="Arial"/>
              <a:buChar char="•"/>
            </a:pPr>
            <a:r>
              <a:rPr lang="en-US" b="true" sz="3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700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Syntax Syndicate​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361540"/>
            <a:ext cx="14863877" cy="1901168"/>
            <a:chOff x="0" y="0"/>
            <a:chExt cx="19818502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8502" cy="2534890"/>
            </a:xfrm>
            <a:custGeom>
              <a:avLst/>
              <a:gdLst/>
              <a:ahLst/>
              <a:cxnLst/>
              <a:rect r="r" b="b" t="t" l="l"/>
              <a:pathLst>
                <a:path h="2534890" w="19818502">
                  <a:moveTo>
                    <a:pt x="0" y="0"/>
                  </a:moveTo>
                  <a:lnTo>
                    <a:pt x="19818502" y="0"/>
                  </a:lnTo>
                  <a:lnTo>
                    <a:pt x="19818502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-10732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818502" cy="257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</a:p>
            <a:p>
              <a:pPr algn="ctr">
                <a:lnSpc>
                  <a:spcPts val="6000"/>
                </a:lnSpc>
              </a:pPr>
              <a:r>
                <a:rPr lang="en-US" b="true" sz="50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E20 SMART DOSING SYSTEM​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99428" y="2407482"/>
            <a:ext cx="6118641" cy="7012943"/>
          </a:xfrm>
          <a:custGeom>
            <a:avLst/>
            <a:gdLst/>
            <a:ahLst/>
            <a:cxnLst/>
            <a:rect r="r" b="b" t="t" l="l"/>
            <a:pathLst>
              <a:path h="7012943" w="6118641">
                <a:moveTo>
                  <a:pt x="0" y="0"/>
                </a:moveTo>
                <a:lnTo>
                  <a:pt x="6118641" y="0"/>
                </a:lnTo>
                <a:lnTo>
                  <a:pt x="6118641" y="7012943"/>
                </a:lnTo>
                <a:lnTo>
                  <a:pt x="0" y="7012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03" t="-3331" r="-10922" b="-4957"/>
            </a:stretch>
          </a:blipFill>
        </p:spPr>
      </p:sp>
      <p:sp>
        <p:nvSpPr>
          <p:cNvPr name="Freeform 12" id="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false" flipV="false" rot="0">
            <a:off x="806854" y="2171126"/>
            <a:ext cx="6343154" cy="3288646"/>
          </a:xfrm>
          <a:custGeom>
            <a:avLst/>
            <a:gdLst/>
            <a:ahLst/>
            <a:cxnLst/>
            <a:rect r="r" b="b" t="t" l="l"/>
            <a:pathLst>
              <a:path h="3288646" w="6343154">
                <a:moveTo>
                  <a:pt x="0" y="0"/>
                </a:moveTo>
                <a:lnTo>
                  <a:pt x="6343153" y="0"/>
                </a:lnTo>
                <a:lnTo>
                  <a:pt x="6343153" y="3288646"/>
                </a:lnTo>
                <a:lnTo>
                  <a:pt x="0" y="3288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854" r="-8524" b="-1822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5903" y="5594732"/>
            <a:ext cx="6873525" cy="3709387"/>
          </a:xfrm>
          <a:custGeom>
            <a:avLst/>
            <a:gdLst/>
            <a:ahLst/>
            <a:cxnLst/>
            <a:rect r="r" b="b" t="t" l="l"/>
            <a:pathLst>
              <a:path h="3709387" w="6873525">
                <a:moveTo>
                  <a:pt x="0" y="0"/>
                </a:moveTo>
                <a:lnTo>
                  <a:pt x="6873525" y="0"/>
                </a:lnTo>
                <a:lnTo>
                  <a:pt x="6873525" y="3709387"/>
                </a:lnTo>
                <a:lnTo>
                  <a:pt x="0" y="370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024" r="-16430" b="-1990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8678" y="1375758"/>
            <a:ext cx="1483330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6"/>
              </a:lnSpc>
              <a:spcBef>
                <a:spcPct val="0"/>
              </a:spcBef>
            </a:pPr>
            <a:r>
              <a:rPr lang="en-US" b="true" sz="3213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“B</a:t>
            </a:r>
            <a:r>
              <a:rPr lang="en-US" b="true" sz="3213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ridging the Gap Between E20 Adoption and Legacy Vehicles.”​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44953" y="5594540"/>
            <a:ext cx="0" cy="3709579"/>
          </a:xfrm>
          <a:prstGeom prst="line">
            <a:avLst/>
          </a:prstGeom>
          <a:ln cap="flat" w="66675">
            <a:solidFill>
              <a:srgbClr val="138E4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986889" y="2928016"/>
            <a:ext cx="4172661" cy="2771744"/>
          </a:xfrm>
          <a:custGeom>
            <a:avLst/>
            <a:gdLst/>
            <a:ahLst/>
            <a:cxnLst/>
            <a:rect r="r" b="b" t="t" l="l"/>
            <a:pathLst>
              <a:path h="2771744" w="4172661">
                <a:moveTo>
                  <a:pt x="0" y="0"/>
                </a:moveTo>
                <a:lnTo>
                  <a:pt x="4172661" y="0"/>
                </a:lnTo>
                <a:lnTo>
                  <a:pt x="4172661" y="2771744"/>
                </a:lnTo>
                <a:lnTo>
                  <a:pt x="0" y="2771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738032" y="5598795"/>
            <a:ext cx="222885" cy="201930"/>
            <a:chOff x="0" y="0"/>
            <a:chExt cx="297180" cy="26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8683" y="52586"/>
              <a:ext cx="196923" cy="166608"/>
            </a:xfrm>
            <a:custGeom>
              <a:avLst/>
              <a:gdLst/>
              <a:ahLst/>
              <a:cxnLst/>
              <a:rect r="r" b="b" t="t" l="l"/>
              <a:pathLst>
                <a:path h="166608" w="196923">
                  <a:moveTo>
                    <a:pt x="51647" y="17264"/>
                  </a:moveTo>
                  <a:cubicBezTo>
                    <a:pt x="141817" y="754"/>
                    <a:pt x="171027" y="14724"/>
                    <a:pt x="183727" y="32504"/>
                  </a:cubicBezTo>
                  <a:cubicBezTo>
                    <a:pt x="195157" y="50284"/>
                    <a:pt x="198967" y="84574"/>
                    <a:pt x="191347" y="104894"/>
                  </a:cubicBezTo>
                  <a:cubicBezTo>
                    <a:pt x="182457" y="123944"/>
                    <a:pt x="155787" y="146804"/>
                    <a:pt x="135467" y="150614"/>
                  </a:cubicBezTo>
                  <a:cubicBezTo>
                    <a:pt x="115147" y="155694"/>
                    <a:pt x="80857" y="146804"/>
                    <a:pt x="65617" y="131564"/>
                  </a:cubicBezTo>
                  <a:cubicBezTo>
                    <a:pt x="50377" y="116324"/>
                    <a:pt x="40217" y="84574"/>
                    <a:pt x="42757" y="62984"/>
                  </a:cubicBezTo>
                  <a:cubicBezTo>
                    <a:pt x="46567" y="41394"/>
                    <a:pt x="68157" y="14724"/>
                    <a:pt x="87207" y="5834"/>
                  </a:cubicBezTo>
                  <a:cubicBezTo>
                    <a:pt x="106257" y="-3056"/>
                    <a:pt x="140547" y="-1786"/>
                    <a:pt x="159597" y="9644"/>
                  </a:cubicBezTo>
                  <a:cubicBezTo>
                    <a:pt x="177377" y="21074"/>
                    <a:pt x="193887" y="51554"/>
                    <a:pt x="196427" y="71874"/>
                  </a:cubicBezTo>
                  <a:cubicBezTo>
                    <a:pt x="198967" y="88384"/>
                    <a:pt x="191347" y="106164"/>
                    <a:pt x="182457" y="118864"/>
                  </a:cubicBezTo>
                  <a:cubicBezTo>
                    <a:pt x="173567" y="131564"/>
                    <a:pt x="159597" y="141724"/>
                    <a:pt x="143087" y="149344"/>
                  </a:cubicBezTo>
                  <a:cubicBezTo>
                    <a:pt x="122767" y="158234"/>
                    <a:pt x="85937" y="169664"/>
                    <a:pt x="63077" y="165854"/>
                  </a:cubicBezTo>
                  <a:cubicBezTo>
                    <a:pt x="44027" y="163314"/>
                    <a:pt x="26247" y="153154"/>
                    <a:pt x="16087" y="139184"/>
                  </a:cubicBezTo>
                  <a:cubicBezTo>
                    <a:pt x="4657" y="122674"/>
                    <a:pt x="-4233" y="89654"/>
                    <a:pt x="2117" y="69334"/>
                  </a:cubicBezTo>
                  <a:cubicBezTo>
                    <a:pt x="7197" y="49014"/>
                    <a:pt x="51647" y="17264"/>
                    <a:pt x="51647" y="1726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994255" y="4995862"/>
            <a:ext cx="188595" cy="184785"/>
            <a:chOff x="0" y="0"/>
            <a:chExt cx="251460" cy="2463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0" y="50746"/>
              <a:ext cx="148590" cy="147163"/>
            </a:xfrm>
            <a:custGeom>
              <a:avLst/>
              <a:gdLst/>
              <a:ahLst/>
              <a:cxnLst/>
              <a:rect r="r" b="b" t="t" l="l"/>
              <a:pathLst>
                <a:path h="147163" w="148590">
                  <a:moveTo>
                    <a:pt x="148590" y="52124"/>
                  </a:moveTo>
                  <a:cubicBezTo>
                    <a:pt x="129540" y="133404"/>
                    <a:pt x="120650" y="139754"/>
                    <a:pt x="107950" y="143564"/>
                  </a:cubicBezTo>
                  <a:cubicBezTo>
                    <a:pt x="90170" y="149914"/>
                    <a:pt x="53340" y="147374"/>
                    <a:pt x="36830" y="139754"/>
                  </a:cubicBezTo>
                  <a:cubicBezTo>
                    <a:pt x="25400" y="134674"/>
                    <a:pt x="17780" y="124514"/>
                    <a:pt x="11430" y="114354"/>
                  </a:cubicBezTo>
                  <a:cubicBezTo>
                    <a:pt x="5080" y="104194"/>
                    <a:pt x="0" y="92764"/>
                    <a:pt x="0" y="78794"/>
                  </a:cubicBezTo>
                  <a:cubicBezTo>
                    <a:pt x="1270" y="61014"/>
                    <a:pt x="16510" y="27994"/>
                    <a:pt x="29210" y="14024"/>
                  </a:cubicBezTo>
                  <a:cubicBezTo>
                    <a:pt x="38100" y="5134"/>
                    <a:pt x="49530" y="54"/>
                    <a:pt x="62230" y="54"/>
                  </a:cubicBezTo>
                  <a:cubicBezTo>
                    <a:pt x="81280" y="-1216"/>
                    <a:pt x="129540" y="20374"/>
                    <a:pt x="129540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4994255" y="6073351"/>
            <a:ext cx="1536634" cy="3230768"/>
          </a:xfrm>
          <a:custGeom>
            <a:avLst/>
            <a:gdLst/>
            <a:ahLst/>
            <a:cxnLst/>
            <a:rect r="r" b="b" t="t" l="l"/>
            <a:pathLst>
              <a:path h="3230768" w="1536634">
                <a:moveTo>
                  <a:pt x="0" y="0"/>
                </a:moveTo>
                <a:lnTo>
                  <a:pt x="1536634" y="0"/>
                </a:lnTo>
                <a:lnTo>
                  <a:pt x="1536634" y="3230768"/>
                </a:lnTo>
                <a:lnTo>
                  <a:pt x="0" y="3230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1724" y="2110304"/>
            <a:ext cx="17280547" cy="7233453"/>
          </a:xfrm>
          <a:custGeom>
            <a:avLst/>
            <a:gdLst/>
            <a:ahLst/>
            <a:cxnLst/>
            <a:rect r="r" b="b" t="t" l="l"/>
            <a:pathLst>
              <a:path h="7233453" w="17280547">
                <a:moveTo>
                  <a:pt x="0" y="0"/>
                </a:moveTo>
                <a:lnTo>
                  <a:pt x="17280546" y="0"/>
                </a:lnTo>
                <a:lnTo>
                  <a:pt x="17280546" y="7233454"/>
                </a:lnTo>
                <a:lnTo>
                  <a:pt x="0" y="7233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32" t="-26492" r="-1386" b="-1241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9900" y="10679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1592" y="2575908"/>
            <a:ext cx="8301239" cy="4450524"/>
          </a:xfrm>
          <a:custGeom>
            <a:avLst/>
            <a:gdLst/>
            <a:ahLst/>
            <a:cxnLst/>
            <a:rect r="r" b="b" t="t" l="l"/>
            <a:pathLst>
              <a:path h="4450524" w="8301239">
                <a:moveTo>
                  <a:pt x="0" y="0"/>
                </a:moveTo>
                <a:lnTo>
                  <a:pt x="8301240" y="0"/>
                </a:lnTo>
                <a:lnTo>
                  <a:pt x="8301240" y="4450524"/>
                </a:lnTo>
                <a:lnTo>
                  <a:pt x="0" y="4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9" t="-4101" r="0" b="-53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91542" y="2575908"/>
            <a:ext cx="8745046" cy="4450524"/>
          </a:xfrm>
          <a:custGeom>
            <a:avLst/>
            <a:gdLst/>
            <a:ahLst/>
            <a:cxnLst/>
            <a:rect r="r" b="b" t="t" l="l"/>
            <a:pathLst>
              <a:path h="4450524" w="8745046">
                <a:moveTo>
                  <a:pt x="0" y="0"/>
                </a:moveTo>
                <a:lnTo>
                  <a:pt x="8745046" y="0"/>
                </a:lnTo>
                <a:lnTo>
                  <a:pt x="8745046" y="4450524"/>
                </a:lnTo>
                <a:lnTo>
                  <a:pt x="0" y="4450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39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61592" y="7405540"/>
            <a:ext cx="17574996" cy="1747495"/>
            <a:chOff x="0" y="0"/>
            <a:chExt cx="4628806" cy="4602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28805" cy="460246"/>
            </a:xfrm>
            <a:custGeom>
              <a:avLst/>
              <a:gdLst/>
              <a:ahLst/>
              <a:cxnLst/>
              <a:rect r="r" b="b" t="t" l="l"/>
              <a:pathLst>
                <a:path h="460246" w="4628805">
                  <a:moveTo>
                    <a:pt x="14977" y="0"/>
                  </a:moveTo>
                  <a:lnTo>
                    <a:pt x="4613828" y="0"/>
                  </a:lnTo>
                  <a:cubicBezTo>
                    <a:pt x="4622100" y="0"/>
                    <a:pt x="4628805" y="6706"/>
                    <a:pt x="4628805" y="14977"/>
                  </a:cubicBezTo>
                  <a:lnTo>
                    <a:pt x="4628805" y="445268"/>
                  </a:lnTo>
                  <a:cubicBezTo>
                    <a:pt x="4628805" y="453540"/>
                    <a:pt x="4622100" y="460246"/>
                    <a:pt x="4613828" y="460246"/>
                  </a:cubicBezTo>
                  <a:lnTo>
                    <a:pt x="14977" y="460246"/>
                  </a:lnTo>
                  <a:cubicBezTo>
                    <a:pt x="6706" y="460246"/>
                    <a:pt x="0" y="453540"/>
                    <a:pt x="0" y="445268"/>
                  </a:cubicBezTo>
                  <a:lnTo>
                    <a:pt x="0" y="14977"/>
                  </a:lnTo>
                  <a:cubicBezTo>
                    <a:pt x="0" y="6706"/>
                    <a:pt x="6706" y="0"/>
                    <a:pt x="14977" y="0"/>
                  </a:cubicBezTo>
                  <a:close/>
                </a:path>
              </a:pathLst>
            </a:custGeom>
            <a:solidFill>
              <a:srgbClr val="E6E7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28806" cy="498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69416" y="1928208"/>
            <a:ext cx="365127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32041" y="1928208"/>
            <a:ext cx="300795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574438"/>
            <a:ext cx="1830538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</a:pPr>
            <a:r>
              <a:rPr lang="en-US" sz="409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FUTURE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SCOPE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39295" y="7526813"/>
            <a:ext cx="31650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AI &amp; I</a:t>
            </a: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oT Smart Dosing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81477" y="7926863"/>
            <a:ext cx="6018769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Integrate sens</a:t>
            </a: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ors &amp; AI to monitor fuel consumption in real time, enabling adaptive dosing and automated mobile alerts.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10065" y="7526813"/>
            <a:ext cx="349424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</a:t>
            </a:r>
            <a:r>
              <a:rPr lang="en-US" b="true" sz="25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arge-Scale Deployment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30618" y="7926863"/>
            <a:ext cx="622868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Scale the architecture t</a:t>
            </a:r>
            <a:r>
              <a:rPr lang="en-US" sz="23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 support commercial fleets, public buses, and adapt for varying future ethanol-fuel blends.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7250" y="2507548"/>
            <a:ext cx="8484365" cy="6291213"/>
          </a:xfrm>
          <a:custGeom>
            <a:avLst/>
            <a:gdLst/>
            <a:ahLst/>
            <a:cxnLst/>
            <a:rect r="r" b="b" t="t" l="l"/>
            <a:pathLst>
              <a:path h="6291213" w="8484365">
                <a:moveTo>
                  <a:pt x="0" y="0"/>
                </a:moveTo>
                <a:lnTo>
                  <a:pt x="8484365" y="0"/>
                </a:lnTo>
                <a:lnTo>
                  <a:pt x="8484365" y="6291213"/>
                </a:lnTo>
                <a:lnTo>
                  <a:pt x="0" y="6291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794" r="-6089" b="-730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2220" y="2939805"/>
            <a:ext cx="9605780" cy="6032003"/>
          </a:xfrm>
          <a:custGeom>
            <a:avLst/>
            <a:gdLst/>
            <a:ahLst/>
            <a:cxnLst/>
            <a:rect r="r" b="b" t="t" l="l"/>
            <a:pathLst>
              <a:path h="6032003" w="9605780">
                <a:moveTo>
                  <a:pt x="0" y="0"/>
                </a:moveTo>
                <a:lnTo>
                  <a:pt x="9605780" y="0"/>
                </a:lnTo>
                <a:lnTo>
                  <a:pt x="9605780" y="6032003"/>
                </a:lnTo>
                <a:lnTo>
                  <a:pt x="0" y="60320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5429" r="0" b="-639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9067" y="2136073"/>
            <a:ext cx="6599397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Impacts of Additive-Dosing Solutions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06223" y="2136073"/>
            <a:ext cx="527958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Benefits of automated dosing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1F49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41724" y="167292"/>
            <a:ext cx="1932436" cy="1722816"/>
          </a:xfrm>
          <a:custGeom>
            <a:avLst/>
            <a:gdLst/>
            <a:ahLst/>
            <a:cxnLst/>
            <a:rect r="r" b="b" t="t" l="l"/>
            <a:pathLst>
              <a:path h="1722816" w="1932436">
                <a:moveTo>
                  <a:pt x="0" y="0"/>
                </a:moveTo>
                <a:lnTo>
                  <a:pt x="1932436" y="0"/>
                </a:lnTo>
                <a:lnTo>
                  <a:pt x="1932436" y="1722816"/>
                </a:lnTo>
                <a:lnTo>
                  <a:pt x="0" y="1722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843502" y="2319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1724" y="2445630"/>
            <a:ext cx="17258349" cy="3551267"/>
            <a:chOff x="0" y="0"/>
            <a:chExt cx="4545409" cy="9353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45409" cy="935313"/>
            </a:xfrm>
            <a:custGeom>
              <a:avLst/>
              <a:gdLst/>
              <a:ahLst/>
              <a:cxnLst/>
              <a:rect r="r" b="b" t="t" l="l"/>
              <a:pathLst>
                <a:path h="935313" w="4545409">
                  <a:moveTo>
                    <a:pt x="15701" y="0"/>
                  </a:moveTo>
                  <a:lnTo>
                    <a:pt x="4529708" y="0"/>
                  </a:lnTo>
                  <a:cubicBezTo>
                    <a:pt x="4538379" y="0"/>
                    <a:pt x="4545409" y="7029"/>
                    <a:pt x="4545409" y="15701"/>
                  </a:cubicBezTo>
                  <a:lnTo>
                    <a:pt x="4545409" y="919613"/>
                  </a:lnTo>
                  <a:cubicBezTo>
                    <a:pt x="4545409" y="923777"/>
                    <a:pt x="4543754" y="927770"/>
                    <a:pt x="4540810" y="930715"/>
                  </a:cubicBezTo>
                  <a:cubicBezTo>
                    <a:pt x="4537866" y="933659"/>
                    <a:pt x="4533872" y="935313"/>
                    <a:pt x="4529708" y="935313"/>
                  </a:cubicBezTo>
                  <a:lnTo>
                    <a:pt x="15701" y="935313"/>
                  </a:lnTo>
                  <a:cubicBezTo>
                    <a:pt x="11537" y="935313"/>
                    <a:pt x="7543" y="933659"/>
                    <a:pt x="4599" y="930715"/>
                  </a:cubicBezTo>
                  <a:cubicBezTo>
                    <a:pt x="1654" y="927770"/>
                    <a:pt x="0" y="923777"/>
                    <a:pt x="0" y="919613"/>
                  </a:cubicBezTo>
                  <a:lnTo>
                    <a:pt x="0" y="15701"/>
                  </a:lnTo>
                  <a:cubicBezTo>
                    <a:pt x="0" y="11537"/>
                    <a:pt x="1654" y="7543"/>
                    <a:pt x="4599" y="4599"/>
                  </a:cubicBezTo>
                  <a:cubicBezTo>
                    <a:pt x="7543" y="1654"/>
                    <a:pt x="11537" y="0"/>
                    <a:pt x="15701" y="0"/>
                  </a:cubicBezTo>
                  <a:close/>
                </a:path>
              </a:pathLst>
            </a:custGeom>
            <a:solidFill>
              <a:srgbClr val="DFC375">
                <a:alpha val="36863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545409" cy="973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0249" y="2444072"/>
            <a:ext cx="22885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9"/>
              </a:lnSpc>
              <a:spcBef>
                <a:spcPct val="0"/>
              </a:spcBef>
            </a:pPr>
            <a:r>
              <a:rPr lang="en-US" b="true" sz="4299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Research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253697"/>
            <a:ext cx="16739393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G</a:t>
            </a: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overnment Policy &amp; Mandate: NITI Aayog Expert Committee Report on "Roadmap for Ethanol Blending in India 2020-25" &amp; MoPNG Guidelines.  MoPNG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Automotive Standards &amp; Impact: Automotive Research Association of India (ARAI) guidelines on E20 material compatibility. ARAI</a:t>
            </a:r>
          </a:p>
          <a:p>
            <a:pPr algn="l" marL="647694" indent="-323847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Scientific Validation: IEEE Xplore &amp; Google Scholar research papers on "Corrosion behavior of automotive fuel system materials in ethanol-blended gasoline". 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4826" y="6167984"/>
            <a:ext cx="17258349" cy="3193074"/>
            <a:chOff x="0" y="0"/>
            <a:chExt cx="4917275" cy="9097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17275" cy="909775"/>
            </a:xfrm>
            <a:custGeom>
              <a:avLst/>
              <a:gdLst/>
              <a:ahLst/>
              <a:cxnLst/>
              <a:rect r="r" b="b" t="t" l="l"/>
              <a:pathLst>
                <a:path h="909775" w="4917275">
                  <a:moveTo>
                    <a:pt x="15701" y="0"/>
                  </a:moveTo>
                  <a:lnTo>
                    <a:pt x="4901574" y="0"/>
                  </a:lnTo>
                  <a:cubicBezTo>
                    <a:pt x="4905738" y="0"/>
                    <a:pt x="4909732" y="1654"/>
                    <a:pt x="4912676" y="4599"/>
                  </a:cubicBezTo>
                  <a:cubicBezTo>
                    <a:pt x="4915620" y="7543"/>
                    <a:pt x="4917275" y="11537"/>
                    <a:pt x="4917275" y="15701"/>
                  </a:cubicBezTo>
                  <a:lnTo>
                    <a:pt x="4917275" y="894075"/>
                  </a:lnTo>
                  <a:cubicBezTo>
                    <a:pt x="4917275" y="898239"/>
                    <a:pt x="4915620" y="902232"/>
                    <a:pt x="4912676" y="905177"/>
                  </a:cubicBezTo>
                  <a:cubicBezTo>
                    <a:pt x="4909732" y="908121"/>
                    <a:pt x="4905738" y="909775"/>
                    <a:pt x="4901574" y="909775"/>
                  </a:cubicBezTo>
                  <a:lnTo>
                    <a:pt x="15701" y="909775"/>
                  </a:lnTo>
                  <a:cubicBezTo>
                    <a:pt x="11537" y="909775"/>
                    <a:pt x="7543" y="908121"/>
                    <a:pt x="4599" y="905177"/>
                  </a:cubicBezTo>
                  <a:cubicBezTo>
                    <a:pt x="1654" y="902232"/>
                    <a:pt x="0" y="898239"/>
                    <a:pt x="0" y="894075"/>
                  </a:cubicBezTo>
                  <a:lnTo>
                    <a:pt x="0" y="15701"/>
                  </a:lnTo>
                  <a:cubicBezTo>
                    <a:pt x="0" y="11537"/>
                    <a:pt x="1654" y="7543"/>
                    <a:pt x="4599" y="4599"/>
                  </a:cubicBezTo>
                  <a:cubicBezTo>
                    <a:pt x="7543" y="1654"/>
                    <a:pt x="11537" y="0"/>
                    <a:pt x="15701" y="0"/>
                  </a:cubicBezTo>
                  <a:close/>
                </a:path>
              </a:pathLst>
            </a:custGeom>
            <a:solidFill>
              <a:srgbClr val="E2D5AA">
                <a:alpha val="5098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17275" cy="947875"/>
            </a:xfrm>
            <a:prstGeom prst="rect">
              <a:avLst/>
            </a:prstGeom>
          </p:spPr>
          <p:txBody>
            <a:bodyPr anchor="ctr" rtlCol="false" tIns="46958" lIns="46958" bIns="46958" rIns="46958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07116" y="6330951"/>
            <a:ext cx="2557599" cy="67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n-US" b="true" sz="3974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References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913" y="7082069"/>
            <a:ext cx="1555897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481" indent="-331741" lvl="1">
              <a:lnSpc>
                <a:spcPts val="3687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Microcontr</a:t>
            </a: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oller &amp; IoT Architecture: Espressif Systems Official ESP32 Technical Documentation and Data-Sheets.</a:t>
            </a:r>
          </a:p>
          <a:p>
            <a:pPr algn="l" marL="663481" indent="-331741" lvl="1">
              <a:lnSpc>
                <a:spcPts val="3687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Sensor Calibration &amp; Integration: SparkFun Electronics hookup guide for HX711 Load Cell Amplifier (used for precise additive dosing).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5578" y="9477934"/>
            <a:ext cx="5410120" cy="69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@</a:t>
            </a:r>
            <a:r>
              <a:rPr lang="en-US" b="true" sz="3457" spc="117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Syntax Syndicate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DAHTwVY6Dz8</dc:identifier>
  <dcterms:modified xsi:type="dcterms:W3CDTF">2011-08-01T06:04:30Z</dcterms:modified>
  <cp:revision>1</cp:revision>
  <dc:title>SYNTAX SYNDICATES</dc:title>
</cp:coreProperties>
</file>